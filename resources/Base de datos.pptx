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A2E22-1CA5-47EA-CF65-F45CB66F2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97BEBD-D4E3-8D33-A82D-9BD8EB7E4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519F83-180A-7DF0-CF53-01E74C6C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26DE6B-158C-DF4A-297C-D7A0110E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EAAAA1-F75C-672E-B877-A77095AC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493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BD981-9F18-9350-5C87-E4E89C7C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CF7807-2F01-A026-CEB6-B76719044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6A730-DDFC-25A2-DE9F-C0EF7B52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7213DF-7E48-8779-BF43-A668F211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C872CA-103D-E623-9F0A-2C57BB30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355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B45D5-7A12-D7DB-819C-A96AF9A6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231254-9589-574A-1957-F99102DFB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087F79-02B8-9E87-CBA6-C1B7C28C6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536BEB-12A0-D49C-CB4C-BDC75BBD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CCFC4A-0059-1FDB-B029-D98EBB53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890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F3F00-4254-5E76-BEDE-E1957AC3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DD07B2-129D-853B-EB90-F171FBB2C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419934-16C3-E36E-08E3-871E46442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53DA83-B4AF-4755-D3D4-78465E243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0211F8-B89B-6970-F4A8-307EF1C11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8E203B-800D-CFF5-5A9C-910C4549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869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9D6AB-1657-59AF-7D1A-3B4385BD1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F02456-6537-6A2E-E07E-7D1D8F6E5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839E7E-075F-DA26-3B15-69BED86FF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C86B50-53E3-AA4D-C638-6CA7B4DE9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87B2CF-5D10-6F01-1A4E-09030CA3B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AAD073-3382-B313-FA78-D9CB3A3F6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0166F6-5EB8-55CB-ABBC-963111D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3A354B-4B5C-4042-20CA-B7856C394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457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CDDB6-0911-CB70-8F4D-F1B88F67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D4C252-2D87-BB4A-438D-9544EF8E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971528-2C1E-804D-8834-B41A31D7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260B74-BD9C-A5C7-E650-FBD80BF0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260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35DA335-658F-ADE3-9921-9DB1A73D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85209A9-6636-ED0F-EC38-5DCF65B60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58BBB9-A9ED-2696-F45F-9D106ABE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3502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E6C22-57ED-6704-34DE-CA735818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69CD97-7559-87E9-C8C8-96E8728C5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4E1009-B794-D23C-41F7-F0CED70FE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FD38D9-6AD2-33AE-D96F-8EC215A7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CA0D00-BE2F-73F8-5053-BB0CADB5D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BB410E-14CF-1B8E-A836-DB121368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484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96C849-6D24-BFCA-84DC-411979A9C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EB7E33-B2A7-7C38-8768-5D38BCDE2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757DEE-CE32-11F3-4A65-23DD83CD5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0A6C39-E95E-97EB-213E-C44824993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4989BD-2A5D-F2C8-F59D-EBC5153A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6A4426-1F4C-7CD9-BA5F-EF2941C34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3990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93D1A-7B45-66E2-A596-D58F3E41D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9E05D2-9FC6-7BAF-A322-EEE569246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64A8F3-C628-DDBF-0927-836DFB53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19155C-440C-6AB9-751B-CCE5BF7D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D9E8EE-ED49-C8BD-8B4F-85971182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9474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478CB0-6B00-2DD4-CF5D-5E838C221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E203C9-2EAA-B395-1BA1-A2670DEA7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79236B-F07D-E34B-E67D-2BBC306F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368508-EED1-842E-D7AD-80DA21F25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8A6A7D-E5B7-37E2-3414-D20A44F0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612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9E2FAED-A3D1-4968-F94D-B8B8BD7F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E01790-6272-F3FC-4558-113AA10A7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01F350-1E76-6E0E-2314-85C1E5095D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C9DADF-8184-4494-4420-CDB3CEB27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47573E-B1F4-41A3-70E8-60F62C7EB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538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61C1FCC6-8257-2B0D-E598-DD65A36999D3}"/>
              </a:ext>
            </a:extLst>
          </p:cNvPr>
          <p:cNvCxnSpPr>
            <a:cxnSpLocks/>
            <a:stCxn id="47" idx="1"/>
            <a:endCxn id="24" idx="3"/>
          </p:cNvCxnSpPr>
          <p:nvPr/>
        </p:nvCxnSpPr>
        <p:spPr>
          <a:xfrm rot="10800000" flipV="1">
            <a:off x="6525627" y="2209494"/>
            <a:ext cx="1568756" cy="2243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2E9288C-2F4C-34A0-73E8-49719B844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334476"/>
              </p:ext>
            </p:extLst>
          </p:nvPr>
        </p:nvGraphicFramePr>
        <p:xfrm>
          <a:off x="933746" y="1363629"/>
          <a:ext cx="2229693" cy="1747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693">
                  <a:extLst>
                    <a:ext uri="{9D8B030D-6E8A-4147-A177-3AD203B41FA5}">
                      <a16:colId xmlns:a16="http://schemas.microsoft.com/office/drawing/2014/main" val="1262072979"/>
                    </a:ext>
                  </a:extLst>
                </a:gridCol>
              </a:tblGrid>
              <a:tr h="358639">
                <a:tc>
                  <a:txBody>
                    <a:bodyPr/>
                    <a:lstStyle/>
                    <a:p>
                      <a:r>
                        <a:rPr lang="es-MX" sz="1400" dirty="0"/>
                        <a:t>Clientes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061212"/>
                  </a:ext>
                </a:extLst>
              </a:tr>
              <a:tr h="1388488">
                <a:tc>
                  <a:txBody>
                    <a:bodyPr/>
                    <a:lstStyle/>
                    <a:p>
                      <a:r>
                        <a:rPr lang="es-MX" sz="1400" dirty="0"/>
                        <a:t>id PK AI</a:t>
                      </a:r>
                    </a:p>
                    <a:p>
                      <a:r>
                        <a:rPr lang="es-MX" sz="1400" dirty="0"/>
                        <a:t>nombre VARCHAR</a:t>
                      </a:r>
                    </a:p>
                    <a:p>
                      <a:r>
                        <a:rPr lang="es-MX" sz="1400" dirty="0"/>
                        <a:t>apellido_pat  VARCHAR</a:t>
                      </a:r>
                    </a:p>
                    <a:p>
                      <a:r>
                        <a:rPr lang="es-MX" sz="1400" dirty="0"/>
                        <a:t>apellido_mat  VARCHAR</a:t>
                      </a:r>
                    </a:p>
                    <a:p>
                      <a:r>
                        <a:rPr lang="es-MX" sz="1400" dirty="0"/>
                        <a:t>fecha_nac DATE</a:t>
                      </a:r>
                    </a:p>
                    <a:p>
                      <a:r>
                        <a:rPr lang="es-MX" sz="1400" dirty="0"/>
                        <a:t>ingresos  DECIMAL(10,2)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47272"/>
                  </a:ext>
                </a:extLst>
              </a:tr>
            </a:tbl>
          </a:graphicData>
        </a:graphic>
      </p:graphicFrame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373CEB29-995E-DBA3-764B-B2EC8558A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11782"/>
              </p:ext>
            </p:extLst>
          </p:nvPr>
        </p:nvGraphicFramePr>
        <p:xfrm>
          <a:off x="4309731" y="1471752"/>
          <a:ext cx="2215896" cy="1924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896">
                  <a:extLst>
                    <a:ext uri="{9D8B030D-6E8A-4147-A177-3AD203B41FA5}">
                      <a16:colId xmlns:a16="http://schemas.microsoft.com/office/drawing/2014/main" val="2040765359"/>
                    </a:ext>
                  </a:extLst>
                </a:gridCol>
              </a:tblGrid>
              <a:tr h="339293">
                <a:tc>
                  <a:txBody>
                    <a:bodyPr/>
                    <a:lstStyle/>
                    <a:p>
                      <a:r>
                        <a:rPr lang="es-MX" sz="1400" dirty="0"/>
                        <a:t>Usuarios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515418"/>
                  </a:ext>
                </a:extLst>
              </a:tr>
              <a:tr h="1233709">
                <a:tc>
                  <a:txBody>
                    <a:bodyPr/>
                    <a:lstStyle/>
                    <a:p>
                      <a:r>
                        <a:rPr lang="es-MX" sz="1400" dirty="0"/>
                        <a:t>id PK AI</a:t>
                      </a:r>
                    </a:p>
                    <a:p>
                      <a:r>
                        <a:rPr lang="es-MX" sz="1400" dirty="0"/>
                        <a:t>nombre VARCHAR</a:t>
                      </a:r>
                    </a:p>
                    <a:p>
                      <a:r>
                        <a:rPr lang="es-MX" sz="1400" dirty="0"/>
                        <a:t>apellido_pat VARCHAR</a:t>
                      </a:r>
                    </a:p>
                    <a:p>
                      <a:r>
                        <a:rPr lang="es-MX" sz="1400" dirty="0"/>
                        <a:t>apellido_mat VARCHAR</a:t>
                      </a:r>
                    </a:p>
                    <a:p>
                      <a:r>
                        <a:rPr lang="es-MX" sz="1400" dirty="0"/>
                        <a:t>fecha_nac DATE</a:t>
                      </a:r>
                    </a:p>
                    <a:p>
                      <a:r>
                        <a:rPr lang="es-MX" sz="1400" dirty="0"/>
                        <a:t>fecha_ingreso DATE</a:t>
                      </a:r>
                    </a:p>
                    <a:p>
                      <a:r>
                        <a:rPr lang="es-MX" sz="1400" dirty="0"/>
                        <a:t>puesto_id_rol 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124108"/>
                  </a:ext>
                </a:extLst>
              </a:tr>
            </a:tbl>
          </a:graphicData>
        </a:graphic>
      </p:graphicFrame>
      <p:graphicFrame>
        <p:nvGraphicFramePr>
          <p:cNvPr id="43" name="Tabla 42">
            <a:extLst>
              <a:ext uri="{FF2B5EF4-FFF2-40B4-BE49-F238E27FC236}">
                <a16:creationId xmlns:a16="http://schemas.microsoft.com/office/drawing/2014/main" id="{27C55E76-AA0B-14D1-DB6D-5FA16DFD4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299447"/>
              </p:ext>
            </p:extLst>
          </p:nvPr>
        </p:nvGraphicFramePr>
        <p:xfrm>
          <a:off x="2610200" y="4130331"/>
          <a:ext cx="4403699" cy="2170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699">
                  <a:extLst>
                    <a:ext uri="{9D8B030D-6E8A-4147-A177-3AD203B41FA5}">
                      <a16:colId xmlns:a16="http://schemas.microsoft.com/office/drawing/2014/main" val="2040765359"/>
                    </a:ext>
                  </a:extLst>
                </a:gridCol>
              </a:tblGrid>
              <a:tr h="372288">
                <a:tc>
                  <a:txBody>
                    <a:bodyPr/>
                    <a:lstStyle/>
                    <a:p>
                      <a:r>
                        <a:rPr lang="es-MX" sz="1400" dirty="0"/>
                        <a:t>Créditos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515418"/>
                  </a:ext>
                </a:extLst>
              </a:tr>
              <a:tr h="1233709">
                <a:tc>
                  <a:txBody>
                    <a:bodyPr/>
                    <a:lstStyle/>
                    <a:p>
                      <a:r>
                        <a:rPr lang="es-MX" sz="1400" dirty="0"/>
                        <a:t>id PK AI</a:t>
                      </a:r>
                    </a:p>
                    <a:p>
                      <a:r>
                        <a:rPr lang="es-MX" sz="1400" dirty="0"/>
                        <a:t>monto DECIMAL(10,2)</a:t>
                      </a:r>
                    </a:p>
                    <a:p>
                      <a:r>
                        <a:rPr lang="es-MX" sz="1400" dirty="0"/>
                        <a:t>fecha entrega DATE</a:t>
                      </a:r>
                    </a:p>
                    <a:p>
                      <a:r>
                        <a:rPr lang="es-MX" sz="1400" dirty="0"/>
                        <a:t>numero pagos ENUM(10,12,16,24)</a:t>
                      </a:r>
                    </a:p>
                    <a:p>
                      <a:r>
                        <a:rPr lang="es-MX" sz="1400" dirty="0"/>
                        <a:t>frecuencia pagos ENUM(semanal, quincenal, mensual)</a:t>
                      </a:r>
                    </a:p>
                    <a:p>
                      <a:r>
                        <a:rPr lang="es-MX" sz="1400" dirty="0"/>
                        <a:t>estatus pago ENUM(Pagado, pendiente)</a:t>
                      </a:r>
                    </a:p>
                    <a:p>
                      <a:r>
                        <a:rPr lang="es-MX" sz="1400" dirty="0"/>
                        <a:t>id_cliente FK</a:t>
                      </a:r>
                    </a:p>
                    <a:p>
                      <a:r>
                        <a:rPr lang="es-MX" sz="1400" dirty="0"/>
                        <a:t>id_usuario 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124108"/>
                  </a:ext>
                </a:extLst>
              </a:tr>
            </a:tbl>
          </a:graphicData>
        </a:graphic>
      </p:graphicFrame>
      <p:cxnSp>
        <p:nvCxnSpPr>
          <p:cNvPr id="44" name="Conector: angular 43">
            <a:extLst>
              <a:ext uri="{FF2B5EF4-FFF2-40B4-BE49-F238E27FC236}">
                <a16:creationId xmlns:a16="http://schemas.microsoft.com/office/drawing/2014/main" id="{149E208B-B880-53DF-D1A0-48A6F6AABD30}"/>
              </a:ext>
            </a:extLst>
          </p:cNvPr>
          <p:cNvCxnSpPr>
            <a:cxnSpLocks/>
            <a:stCxn id="24" idx="2"/>
            <a:endCxn id="43" idx="0"/>
          </p:cNvCxnSpPr>
          <p:nvPr/>
        </p:nvCxnSpPr>
        <p:spPr>
          <a:xfrm rot="5400000">
            <a:off x="4747701" y="3460353"/>
            <a:ext cx="734326" cy="605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Tabla 46">
            <a:extLst>
              <a:ext uri="{FF2B5EF4-FFF2-40B4-BE49-F238E27FC236}">
                <a16:creationId xmlns:a16="http://schemas.microsoft.com/office/drawing/2014/main" id="{7CA7E896-C375-F7B8-5E47-B690FFFA1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391088"/>
              </p:ext>
            </p:extLst>
          </p:nvPr>
        </p:nvGraphicFramePr>
        <p:xfrm>
          <a:off x="8094383" y="1798014"/>
          <a:ext cx="167105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053">
                  <a:extLst>
                    <a:ext uri="{9D8B030D-6E8A-4147-A177-3AD203B41FA5}">
                      <a16:colId xmlns:a16="http://schemas.microsoft.com/office/drawing/2014/main" val="3691867654"/>
                    </a:ext>
                  </a:extLst>
                </a:gridCol>
              </a:tblGrid>
              <a:tr h="289432">
                <a:tc>
                  <a:txBody>
                    <a:bodyPr/>
                    <a:lstStyle/>
                    <a:p>
                      <a:r>
                        <a:rPr lang="es-MX" sz="1400" dirty="0"/>
                        <a:t>Roles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42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dirty="0"/>
                        <a:t>id PK AI</a:t>
                      </a:r>
                    </a:p>
                    <a:p>
                      <a:r>
                        <a:rPr lang="es-MX" sz="1400" dirty="0"/>
                        <a:t>name_rol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347107"/>
                  </a:ext>
                </a:extLst>
              </a:tr>
            </a:tbl>
          </a:graphicData>
        </a:graphic>
      </p:graphicFrame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D8C39BE8-D331-3104-07BB-69F81CBCAEF4}"/>
              </a:ext>
            </a:extLst>
          </p:cNvPr>
          <p:cNvCxnSpPr>
            <a:cxnSpLocks/>
            <a:stCxn id="17" idx="2"/>
            <a:endCxn id="43" idx="1"/>
          </p:cNvCxnSpPr>
          <p:nvPr/>
        </p:nvCxnSpPr>
        <p:spPr>
          <a:xfrm rot="16200000" flipH="1">
            <a:off x="1276957" y="3882391"/>
            <a:ext cx="2104879" cy="5616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09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103</Words>
  <Application>Microsoft Office PowerPoint</Application>
  <PresentationFormat>Panorámica</PresentationFormat>
  <Paragraphs>27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RUFI</dc:creator>
  <cp:lastModifiedBy>RUFI</cp:lastModifiedBy>
  <cp:revision>12</cp:revision>
  <dcterms:created xsi:type="dcterms:W3CDTF">2025-06-28T15:53:42Z</dcterms:created>
  <dcterms:modified xsi:type="dcterms:W3CDTF">2025-06-28T18:42:54Z</dcterms:modified>
</cp:coreProperties>
</file>